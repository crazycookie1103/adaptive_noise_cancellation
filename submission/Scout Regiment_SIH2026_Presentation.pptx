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C3D"/>
    <a:srgbClr val="FFA751"/>
    <a:srgbClr val="F26722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14"/>
  </p:normalViewPr>
  <p:slideViewPr>
    <p:cSldViewPr snapToGrid="0" snapToObjects="1">
      <p:cViewPr>
        <p:scale>
          <a:sx n="90" d="100"/>
          <a:sy n="90" d="100"/>
        </p:scale>
        <p:origin x="1456" y="1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STOI before</c:v>
                </c:pt>
              </c:strCache>
            </c:strRef>
          </c:tx>
          <c:spPr>
            <a:solidFill>
              <a:srgbClr val="4F6E8F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024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-3 dB</c:v>
                </c:pt>
                <c:pt idx="1">
                  <c:v>0 dB</c:v>
                </c:pt>
                <c:pt idx="2">
                  <c:v>+3 dB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0.7087</c:v>
                </c:pt>
                <c:pt idx="1">
                  <c:v>0.78539999999999999</c:v>
                </c:pt>
                <c:pt idx="2">
                  <c:v>0.85250000000000004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9A-C342-AD0A-8B62CA76C7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STOI after</c:v>
                </c:pt>
              </c:strCache>
            </c:strRef>
          </c:tx>
          <c:spPr>
            <a:solidFill>
              <a:srgbClr val="F2871E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024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-3 dB</c:v>
                </c:pt>
                <c:pt idx="1">
                  <c:v>0 dB</c:v>
                </c:pt>
                <c:pt idx="2">
                  <c:v>+3 dB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0.92979999999999996</c:v>
                </c:pt>
                <c:pt idx="1">
                  <c:v>0.93630000000000002</c:v>
                </c:pt>
                <c:pt idx="2">
                  <c:v>0.95330000000000004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9A-C342-AD0A-8B62CA76C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D7183"/>
                    </a:solidFill>
                    <a:latin typeface="Calibri"/>
                  </a:defRPr>
                </a:pPr>
                <a:r>
                  <a:rPr lang="en-IN" sz="850" b="0" i="0" u="none" strike="noStrike">
                    <a:solidFill>
                      <a:srgbClr val="5D7183"/>
                    </a:solidFill>
                    <a:latin typeface="Calibri"/>
                  </a:rPr>
                  <a:t>Input SNR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D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5D718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36056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633" y="722621"/>
            <a:ext cx="5924550" cy="579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SIH26052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develop an AI/ML-enabled adaptive noise cancellation (ANC) system that effectively suppresses stationary, non-stationary, and impulsive defence noises while maintaining high speech intelligibility and real-time performance on embedded hardware.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Scout Regiment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99" name="Group 24">
            <a:extLst>
              <a:ext uri="{FF2B5EF4-FFF2-40B4-BE49-F238E27FC236}">
                <a16:creationId xmlns:a16="http://schemas.microsoft.com/office/drawing/2014/main" id="{0502E446-5E83-1264-AF5D-258251217581}"/>
              </a:ext>
            </a:extLst>
          </p:cNvPr>
          <p:cNvGrpSpPr/>
          <p:nvPr/>
        </p:nvGrpSpPr>
        <p:grpSpPr>
          <a:xfrm>
            <a:off x="329773" y="5971521"/>
            <a:ext cx="11401979" cy="701208"/>
            <a:chOff x="0" y="-38100"/>
            <a:chExt cx="4266827" cy="259337"/>
          </a:xfrm>
        </p:grpSpPr>
        <p:sp>
          <p:nvSpPr>
            <p:cNvPr id="15400" name="Freeform 25">
              <a:extLst>
                <a:ext uri="{FF2B5EF4-FFF2-40B4-BE49-F238E27FC236}">
                  <a16:creationId xmlns:a16="http://schemas.microsoft.com/office/drawing/2014/main" id="{BECAE060-D276-5BEB-B08B-55C51720FBB5}"/>
                </a:ext>
              </a:extLst>
            </p:cNvPr>
            <p:cNvSpPr/>
            <p:nvPr/>
          </p:nvSpPr>
          <p:spPr>
            <a:xfrm>
              <a:off x="0" y="0"/>
              <a:ext cx="4266827" cy="221237"/>
            </a:xfrm>
            <a:custGeom>
              <a:avLst/>
              <a:gdLst/>
              <a:ahLst/>
              <a:cxnLst/>
              <a:rect l="l" t="t" r="r" b="b"/>
              <a:pathLst>
                <a:path w="4266827" h="221237">
                  <a:moveTo>
                    <a:pt x="24372" y="0"/>
                  </a:moveTo>
                  <a:lnTo>
                    <a:pt x="4242455" y="0"/>
                  </a:lnTo>
                  <a:cubicBezTo>
                    <a:pt x="4255915" y="0"/>
                    <a:pt x="4266827" y="10912"/>
                    <a:pt x="4266827" y="24372"/>
                  </a:cubicBezTo>
                  <a:lnTo>
                    <a:pt x="4266827" y="196866"/>
                  </a:lnTo>
                  <a:cubicBezTo>
                    <a:pt x="4266827" y="203329"/>
                    <a:pt x="4264259" y="209528"/>
                    <a:pt x="4259688" y="214099"/>
                  </a:cubicBezTo>
                  <a:cubicBezTo>
                    <a:pt x="4255118" y="218670"/>
                    <a:pt x="4248919" y="221237"/>
                    <a:pt x="4242455" y="221237"/>
                  </a:cubicBezTo>
                  <a:lnTo>
                    <a:pt x="24372" y="221237"/>
                  </a:lnTo>
                  <a:cubicBezTo>
                    <a:pt x="10912" y="221237"/>
                    <a:pt x="0" y="210326"/>
                    <a:pt x="0" y="196866"/>
                  </a:cubicBezTo>
                  <a:lnTo>
                    <a:pt x="0" y="24372"/>
                  </a:lnTo>
                  <a:cubicBezTo>
                    <a:pt x="0" y="17908"/>
                    <a:pt x="2568" y="11709"/>
                    <a:pt x="7138" y="7138"/>
                  </a:cubicBezTo>
                  <a:cubicBezTo>
                    <a:pt x="11709" y="2568"/>
                    <a:pt x="17908" y="0"/>
                    <a:pt x="24372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1" name="TextBox 26">
              <a:extLst>
                <a:ext uri="{FF2B5EF4-FFF2-40B4-BE49-F238E27FC236}">
                  <a16:creationId xmlns:a16="http://schemas.microsoft.com/office/drawing/2014/main" id="{FED47299-E42B-F003-2727-D304C71A89E9}"/>
                </a:ext>
              </a:extLst>
            </p:cNvPr>
            <p:cNvSpPr txBox="1"/>
            <p:nvPr/>
          </p:nvSpPr>
          <p:spPr>
            <a:xfrm>
              <a:off x="0" y="-38100"/>
              <a:ext cx="4266827" cy="259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17163" y="-169489"/>
            <a:ext cx="8390021" cy="1299412"/>
          </a:xfrm>
        </p:spPr>
        <p:txBody>
          <a:bodyPr/>
          <a:lstStyle/>
          <a:p>
            <a:pPr algn="l"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TinyML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-Controlled Real-Time Adaptive Noise Cancellation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7" name="Text 2">
            <a:extLst>
              <a:ext uri="{FF2B5EF4-FFF2-40B4-BE49-F238E27FC236}">
                <a16:creationId xmlns:a16="http://schemas.microsoft.com/office/drawing/2014/main" id="{0A5EA473-4F4C-6B8D-7D26-DF9A3F53BF66}"/>
              </a:ext>
            </a:extLst>
          </p:cNvPr>
          <p:cNvSpPr txBox="1"/>
          <p:nvPr/>
        </p:nvSpPr>
        <p:spPr>
          <a:xfrm>
            <a:off x="457200" y="136673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5D718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REAL-TIME SIGNAL CHAIN   —   16 kHz  ·  DUAL-CHANNEL I2S + DMA  ·  CORE 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696AEA2A-83D3-E2C2-48EE-43386E7BF251}"/>
              </a:ext>
            </a:extLst>
          </p:cNvPr>
          <p:cNvSpPr/>
          <p:nvPr/>
        </p:nvSpPr>
        <p:spPr>
          <a:xfrm>
            <a:off x="457200" y="1591056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3F581EE4-D40A-A77D-1831-1ECD737BCC09}"/>
              </a:ext>
            </a:extLst>
          </p:cNvPr>
          <p:cNvSpPr txBox="1"/>
          <p:nvPr/>
        </p:nvSpPr>
        <p:spPr>
          <a:xfrm>
            <a:off x="566928" y="165506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Primary / Talk Mic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39EDA97-6996-D992-9575-33F642A05605}"/>
              </a:ext>
            </a:extLst>
          </p:cNvPr>
          <p:cNvSpPr txBox="1"/>
          <p:nvPr/>
        </p:nvSpPr>
        <p:spPr>
          <a:xfrm>
            <a:off x="566928" y="183794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d(n) = s(n) + v(n)  ·  speech + noise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8BC0E5E6-4991-BA26-8107-13150216D5B2}"/>
              </a:ext>
            </a:extLst>
          </p:cNvPr>
          <p:cNvSpPr/>
          <p:nvPr/>
        </p:nvSpPr>
        <p:spPr>
          <a:xfrm>
            <a:off x="457200" y="2157984"/>
            <a:ext cx="1965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6A0FE1C-EAC2-23DA-EB86-371D9507FAFB}"/>
              </a:ext>
            </a:extLst>
          </p:cNvPr>
          <p:cNvSpPr txBox="1"/>
          <p:nvPr/>
        </p:nvSpPr>
        <p:spPr>
          <a:xfrm>
            <a:off x="566928" y="222199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Reference Mic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FD3A9B5-B7FE-9CE7-ABE5-10A2622D585A}"/>
              </a:ext>
            </a:extLst>
          </p:cNvPr>
          <p:cNvSpPr txBox="1"/>
          <p:nvPr/>
        </p:nvSpPr>
        <p:spPr>
          <a:xfrm>
            <a:off x="566928" y="24048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x(n) ≈ v(n)  ·  ambient noise reference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A7E7E024-14EF-7909-9BD0-E6BF67AF6AA4}"/>
              </a:ext>
            </a:extLst>
          </p:cNvPr>
          <p:cNvSpPr/>
          <p:nvPr/>
        </p:nvSpPr>
        <p:spPr>
          <a:xfrm>
            <a:off x="2788920" y="1591056"/>
            <a:ext cx="21488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5D1891A4-6043-493C-6BAA-5209A06E1489}"/>
              </a:ext>
            </a:extLst>
          </p:cNvPr>
          <p:cNvSpPr txBox="1"/>
          <p:nvPr/>
        </p:nvSpPr>
        <p:spPr>
          <a:xfrm>
            <a:off x="2935915" y="1664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F2871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E11F333D-CAAD-B5B2-146E-A9124FEF45FD}"/>
              </a:ext>
            </a:extLst>
          </p:cNvPr>
          <p:cNvSpPr txBox="1"/>
          <p:nvPr/>
        </p:nvSpPr>
        <p:spPr>
          <a:xfrm>
            <a:off x="2916936" y="18470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Transient / Impulse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Detection &amp; Protection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FD92160-5DEF-0781-CB3C-47D4D97CEB3C}"/>
              </a:ext>
            </a:extLst>
          </p:cNvPr>
          <p:cNvSpPr txBox="1"/>
          <p:nvPr/>
        </p:nvSpPr>
        <p:spPr>
          <a:xfrm>
            <a:off x="2916936" y="2214699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Kurtosis-based fast transient clamp. Detects impacts and slams.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76E23B98-BA57-68DA-AD71-D6B9A4438C89}"/>
              </a:ext>
            </a:extLst>
          </p:cNvPr>
          <p:cNvSpPr/>
          <p:nvPr/>
        </p:nvSpPr>
        <p:spPr>
          <a:xfrm>
            <a:off x="5212080" y="1591056"/>
            <a:ext cx="21488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FE82DA63-11AF-8D5A-74E0-36063458B7F2}"/>
              </a:ext>
            </a:extLst>
          </p:cNvPr>
          <p:cNvSpPr txBox="1"/>
          <p:nvPr/>
        </p:nvSpPr>
        <p:spPr>
          <a:xfrm>
            <a:off x="5359075" y="1664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12A69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B676543C-4552-C4E9-32C3-AB6ECB76A0E5}"/>
              </a:ext>
            </a:extLst>
          </p:cNvPr>
          <p:cNvSpPr txBox="1"/>
          <p:nvPr/>
        </p:nvSpPr>
        <p:spPr>
          <a:xfrm>
            <a:off x="5340096" y="18470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VSS-NLMS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Adaptive Filter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D36C0AF9-55CD-B22D-E79D-10005AA7AD81}"/>
              </a:ext>
            </a:extLst>
          </p:cNvPr>
          <p:cNvSpPr txBox="1"/>
          <p:nvPr/>
        </p:nvSpPr>
        <p:spPr>
          <a:xfrm>
            <a:off x="5340096" y="2214699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Variable step-size NLMS cancels noise correlated with the reference.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F024E3E0-EFDE-91CE-8AFF-7A946C1664DC}"/>
              </a:ext>
            </a:extLst>
          </p:cNvPr>
          <p:cNvSpPr/>
          <p:nvPr/>
        </p:nvSpPr>
        <p:spPr>
          <a:xfrm>
            <a:off x="7635240" y="1591056"/>
            <a:ext cx="21488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54FFB38F-C078-F572-E741-8D2504C4C94C}"/>
              </a:ext>
            </a:extLst>
          </p:cNvPr>
          <p:cNvSpPr txBox="1"/>
          <p:nvPr/>
        </p:nvSpPr>
        <p:spPr>
          <a:xfrm>
            <a:off x="7782235" y="1664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12A69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A0C5662-D269-4295-E912-0CD3416B4FD8}"/>
              </a:ext>
            </a:extLst>
          </p:cNvPr>
          <p:cNvSpPr txBox="1"/>
          <p:nvPr/>
        </p:nvSpPr>
        <p:spPr>
          <a:xfrm>
            <a:off x="7763256" y="184708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Wiener Spectral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Post-Filter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8DA7FD8-5FCE-ED41-5C69-874C7697B6BD}"/>
              </a:ext>
            </a:extLst>
          </p:cNvPr>
          <p:cNvSpPr txBox="1"/>
          <p:nvPr/>
        </p:nvSpPr>
        <p:spPr>
          <a:xfrm>
            <a:off x="7763256" y="2214699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Suppresses residual, uncorrelated and non-stationary noise.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CC881BA5-0E90-DE5D-DF0A-65129185A2F9}"/>
              </a:ext>
            </a:extLst>
          </p:cNvPr>
          <p:cNvSpPr/>
          <p:nvPr/>
        </p:nvSpPr>
        <p:spPr>
          <a:xfrm>
            <a:off x="10058400" y="1591056"/>
            <a:ext cx="1673352" cy="1078992"/>
          </a:xfrm>
          <a:prstGeom prst="roundRect">
            <a:avLst>
              <a:gd name="adj" fmla="val 5085"/>
            </a:avLst>
          </a:prstGeom>
          <a:solidFill>
            <a:srgbClr val="EAF7EF"/>
          </a:solidFill>
          <a:ln w="12700">
            <a:solidFill>
              <a:srgbClr val="A8D9BC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F3CC49CA-EE81-4036-FD56-DAED56CFC16F}"/>
              </a:ext>
            </a:extLst>
          </p:cNvPr>
          <p:cNvSpPr txBox="1"/>
          <p:nvPr/>
        </p:nvSpPr>
        <p:spPr>
          <a:xfrm>
            <a:off x="10205395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17803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OUTPUT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F79ABBF3-6503-3D6B-7941-8D38C58B5BCD}"/>
              </a:ext>
            </a:extLst>
          </p:cNvPr>
          <p:cNvSpPr txBox="1"/>
          <p:nvPr/>
        </p:nvSpPr>
        <p:spPr>
          <a:xfrm>
            <a:off x="10186416" y="18470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Enhanced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Speech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3C9215E3-BC2A-4DBE-2245-3610C451CD32}"/>
              </a:ext>
            </a:extLst>
          </p:cNvPr>
          <p:cNvSpPr txBox="1"/>
          <p:nvPr/>
        </p:nvSpPr>
        <p:spPr>
          <a:xfrm>
            <a:off x="10186416" y="221469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e(n) ≈ s(n)  ·  I2S TX → MAX98357A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9F53BD2C-E394-17D7-B246-8A54D92EED78}"/>
              </a:ext>
            </a:extLst>
          </p:cNvPr>
          <p:cNvSpPr/>
          <p:nvPr/>
        </p:nvSpPr>
        <p:spPr>
          <a:xfrm>
            <a:off x="2487168" y="2061972"/>
            <a:ext cx="256032" cy="137160"/>
          </a:xfrm>
          <a:prstGeom prst="rightArrow">
            <a:avLst/>
          </a:prstGeom>
          <a:solidFill>
            <a:srgbClr val="A3B6C7"/>
          </a:solidFill>
          <a:ln w="12700">
            <a:solidFill>
              <a:srgbClr val="A3B6C7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73DC5E67-50DA-D95F-55C9-828189F2D697}"/>
              </a:ext>
            </a:extLst>
          </p:cNvPr>
          <p:cNvSpPr/>
          <p:nvPr/>
        </p:nvSpPr>
        <p:spPr>
          <a:xfrm>
            <a:off x="4910328" y="2061972"/>
            <a:ext cx="256032" cy="137160"/>
          </a:xfrm>
          <a:prstGeom prst="rightArrow">
            <a:avLst/>
          </a:prstGeom>
          <a:solidFill>
            <a:srgbClr val="A3B6C7"/>
          </a:solidFill>
          <a:ln w="12700">
            <a:solidFill>
              <a:srgbClr val="A3B6C7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C078D69-D333-410F-2E2E-E98705BD43F5}"/>
              </a:ext>
            </a:extLst>
          </p:cNvPr>
          <p:cNvSpPr/>
          <p:nvPr/>
        </p:nvSpPr>
        <p:spPr>
          <a:xfrm>
            <a:off x="7333488" y="2061972"/>
            <a:ext cx="256032" cy="137160"/>
          </a:xfrm>
          <a:prstGeom prst="rightArrow">
            <a:avLst/>
          </a:prstGeom>
          <a:solidFill>
            <a:srgbClr val="A3B6C7"/>
          </a:solidFill>
          <a:ln w="12700">
            <a:solidFill>
              <a:srgbClr val="A3B6C7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FC11D594-9CAB-E5CE-5941-A14B91F09D17}"/>
              </a:ext>
            </a:extLst>
          </p:cNvPr>
          <p:cNvSpPr/>
          <p:nvPr/>
        </p:nvSpPr>
        <p:spPr>
          <a:xfrm>
            <a:off x="9756648" y="2061972"/>
            <a:ext cx="256032" cy="137160"/>
          </a:xfrm>
          <a:prstGeom prst="rightArrow">
            <a:avLst/>
          </a:prstGeom>
          <a:solidFill>
            <a:srgbClr val="A3B6C7"/>
          </a:solidFill>
          <a:ln w="12700">
            <a:solidFill>
              <a:srgbClr val="A3B6C7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B0FADE9C-4E76-E4C5-036B-14E930798254}"/>
              </a:ext>
            </a:extLst>
          </p:cNvPr>
          <p:cNvSpPr/>
          <p:nvPr/>
        </p:nvSpPr>
        <p:spPr>
          <a:xfrm>
            <a:off x="2788920" y="2852928"/>
            <a:ext cx="8942832" cy="621792"/>
          </a:xfrm>
          <a:prstGeom prst="roundRect">
            <a:avLst>
              <a:gd name="adj" fmla="val 8824"/>
            </a:avLst>
          </a:prstGeom>
          <a:solidFill>
            <a:srgbClr val="E9F5F5"/>
          </a:solidFill>
          <a:ln w="12700">
            <a:solidFill>
              <a:srgbClr val="A5D5D2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2AFED415-D487-6B3D-2096-E5EDF994F451}"/>
              </a:ext>
            </a:extLst>
          </p:cNvPr>
          <p:cNvSpPr txBox="1"/>
          <p:nvPr/>
        </p:nvSpPr>
        <p:spPr>
          <a:xfrm>
            <a:off x="3108960" y="2960805"/>
            <a:ext cx="8458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C7F7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TINYML CONTROL ENGINE   ·   ASYNCHRONOUS, CORE 1   ·   CONTROL UPDATE EVERY 100 ms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3FED61EC-51B1-65D6-F2F2-7DE829D837E9}"/>
              </a:ext>
            </a:extLst>
          </p:cNvPr>
          <p:cNvSpPr txBox="1"/>
          <p:nvPr/>
        </p:nvSpPr>
        <p:spPr>
          <a:xfrm>
            <a:off x="3108960" y="3152829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500 ms context  →  13–20 MFCC / log-mel  →  3-class CNN (INT8) + VAD  →  step-size μ, post-filter attenuation, adaptation freeze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4FE48B6C-388C-5F0E-F24F-FCCD14990EBF}"/>
              </a:ext>
            </a:extLst>
          </p:cNvPr>
          <p:cNvSpPr/>
          <p:nvPr/>
        </p:nvSpPr>
        <p:spPr>
          <a:xfrm>
            <a:off x="5760720" y="2697480"/>
            <a:ext cx="128016" cy="182880"/>
          </a:xfrm>
          <a:prstGeom prst="upArrow">
            <a:avLst/>
          </a:prstGeom>
          <a:solidFill>
            <a:srgbClr val="12A69B"/>
          </a:solidFill>
          <a:ln w="12700">
            <a:solidFill>
              <a:srgbClr val="12A69B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2857AF4F-3E69-E071-385A-12EDF4D8EE44}"/>
              </a:ext>
            </a:extLst>
          </p:cNvPr>
          <p:cNvSpPr txBox="1"/>
          <p:nvPr/>
        </p:nvSpPr>
        <p:spPr>
          <a:xfrm>
            <a:off x="594360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C7F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sets μ / freezes adaptation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0" name="Shape 39">
            <a:extLst>
              <a:ext uri="{FF2B5EF4-FFF2-40B4-BE49-F238E27FC236}">
                <a16:creationId xmlns:a16="http://schemas.microsoft.com/office/drawing/2014/main" id="{4330970B-5B8F-7779-D693-AF90E98E3EB0}"/>
              </a:ext>
            </a:extLst>
          </p:cNvPr>
          <p:cNvSpPr/>
          <p:nvPr/>
        </p:nvSpPr>
        <p:spPr>
          <a:xfrm>
            <a:off x="8229600" y="2697480"/>
            <a:ext cx="128016" cy="182880"/>
          </a:xfrm>
          <a:prstGeom prst="upArrow">
            <a:avLst/>
          </a:prstGeom>
          <a:solidFill>
            <a:srgbClr val="12A69B"/>
          </a:solidFill>
          <a:ln w="12700">
            <a:solidFill>
              <a:srgbClr val="12A69B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Text 40">
            <a:extLst>
              <a:ext uri="{FF2B5EF4-FFF2-40B4-BE49-F238E27FC236}">
                <a16:creationId xmlns:a16="http://schemas.microsoft.com/office/drawing/2014/main" id="{2FDAA659-83AA-AA9E-8C1A-1039116F2405}"/>
              </a:ext>
            </a:extLst>
          </p:cNvPr>
          <p:cNvSpPr txBox="1"/>
          <p:nvPr/>
        </p:nvSpPr>
        <p:spPr>
          <a:xfrm>
            <a:off x="841248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C7F7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sets attenuation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Text 41">
            <a:extLst>
              <a:ext uri="{FF2B5EF4-FFF2-40B4-BE49-F238E27FC236}">
                <a16:creationId xmlns:a16="http://schemas.microsoft.com/office/drawing/2014/main" id="{7C0EA0B1-344A-0E96-521D-2E84299554AD}"/>
              </a:ext>
            </a:extLst>
          </p:cNvPr>
          <p:cNvSpPr txBox="1"/>
          <p:nvPr/>
        </p:nvSpPr>
        <p:spPr>
          <a:xfrm>
            <a:off x="457200" y="447755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HOW IT ADDRESSES THE PROBLEM     </a:t>
            </a:r>
            <a:r>
              <a:rPr lang="en-US" sz="14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Each noise type named in the problem statement is handled by the mechanism suited to its timescale.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5" name="Shape 42">
            <a:extLst>
              <a:ext uri="{FF2B5EF4-FFF2-40B4-BE49-F238E27FC236}">
                <a16:creationId xmlns:a16="http://schemas.microsoft.com/office/drawing/2014/main" id="{8E240E74-68C4-CDED-DF17-53A1B91021D6}"/>
              </a:ext>
            </a:extLst>
          </p:cNvPr>
          <p:cNvSpPr/>
          <p:nvPr/>
        </p:nvSpPr>
        <p:spPr>
          <a:xfrm>
            <a:off x="457200" y="4801183"/>
            <a:ext cx="213055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7" name="Text 44">
            <a:extLst>
              <a:ext uri="{FF2B5EF4-FFF2-40B4-BE49-F238E27FC236}">
                <a16:creationId xmlns:a16="http://schemas.microsoft.com/office/drawing/2014/main" id="{FEA75BB1-D1AA-A157-9342-CF0902621B74}"/>
              </a:ext>
            </a:extLst>
          </p:cNvPr>
          <p:cNvSpPr txBox="1"/>
          <p:nvPr/>
        </p:nvSpPr>
        <p:spPr>
          <a:xfrm>
            <a:off x="603504" y="4906165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Stationary noise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8" name="Text 45">
            <a:extLst>
              <a:ext uri="{FF2B5EF4-FFF2-40B4-BE49-F238E27FC236}">
                <a16:creationId xmlns:a16="http://schemas.microsoft.com/office/drawing/2014/main" id="{21C4FD71-B01B-0F48-79C1-AD7B3025E77F}"/>
              </a:ext>
            </a:extLst>
          </p:cNvPr>
          <p:cNvSpPr txBox="1"/>
          <p:nvPr/>
        </p:nvSpPr>
        <p:spPr>
          <a:xfrm>
            <a:off x="603504" y="5226205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2000"/>
              </a:lnSpc>
              <a:buNone/>
            </a:pPr>
            <a:r>
              <a:rPr lang="en-US" sz="11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Handled by adaptive NLMS convergence.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9" name="Shape 46">
            <a:extLst>
              <a:ext uri="{FF2B5EF4-FFF2-40B4-BE49-F238E27FC236}">
                <a16:creationId xmlns:a16="http://schemas.microsoft.com/office/drawing/2014/main" id="{D68D2402-764F-02DD-5DB8-13882A241AD8}"/>
              </a:ext>
            </a:extLst>
          </p:cNvPr>
          <p:cNvSpPr/>
          <p:nvPr/>
        </p:nvSpPr>
        <p:spPr>
          <a:xfrm>
            <a:off x="2729484" y="4801183"/>
            <a:ext cx="213055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1" name="Text 48">
            <a:extLst>
              <a:ext uri="{FF2B5EF4-FFF2-40B4-BE49-F238E27FC236}">
                <a16:creationId xmlns:a16="http://schemas.microsoft.com/office/drawing/2014/main" id="{8D57B063-53F9-43BC-46E1-A61F0E805510}"/>
              </a:ext>
            </a:extLst>
          </p:cNvPr>
          <p:cNvSpPr txBox="1"/>
          <p:nvPr/>
        </p:nvSpPr>
        <p:spPr>
          <a:xfrm>
            <a:off x="2875788" y="4906165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Non-stationary noise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2" name="Text 49">
            <a:extLst>
              <a:ext uri="{FF2B5EF4-FFF2-40B4-BE49-F238E27FC236}">
                <a16:creationId xmlns:a16="http://schemas.microsoft.com/office/drawing/2014/main" id="{97FCD248-6658-DB99-C4D0-F56C3CEC88D5}"/>
              </a:ext>
            </a:extLst>
          </p:cNvPr>
          <p:cNvSpPr txBox="1"/>
          <p:nvPr/>
        </p:nvSpPr>
        <p:spPr>
          <a:xfrm>
            <a:off x="2875788" y="5226205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2000"/>
              </a:lnSpc>
              <a:buNone/>
            </a:pPr>
            <a:r>
              <a:rPr lang="en-US" sz="11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Variable step-size, ML-guided tuning and spectral cleanup.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3" name="Shape 50">
            <a:extLst>
              <a:ext uri="{FF2B5EF4-FFF2-40B4-BE49-F238E27FC236}">
                <a16:creationId xmlns:a16="http://schemas.microsoft.com/office/drawing/2014/main" id="{526C4339-3B34-564D-76E5-5CFFBE83C645}"/>
              </a:ext>
            </a:extLst>
          </p:cNvPr>
          <p:cNvSpPr/>
          <p:nvPr/>
        </p:nvSpPr>
        <p:spPr>
          <a:xfrm>
            <a:off x="5001768" y="4801183"/>
            <a:ext cx="213055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5" name="Text 52">
            <a:extLst>
              <a:ext uri="{FF2B5EF4-FFF2-40B4-BE49-F238E27FC236}">
                <a16:creationId xmlns:a16="http://schemas.microsoft.com/office/drawing/2014/main" id="{E3288E6B-7787-8ECC-3331-20E4DD5B98BB}"/>
              </a:ext>
            </a:extLst>
          </p:cNvPr>
          <p:cNvSpPr txBox="1"/>
          <p:nvPr/>
        </p:nvSpPr>
        <p:spPr>
          <a:xfrm>
            <a:off x="5148072" y="4906165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Impulsive noise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6" name="Text 53">
            <a:extLst>
              <a:ext uri="{FF2B5EF4-FFF2-40B4-BE49-F238E27FC236}">
                <a16:creationId xmlns:a16="http://schemas.microsoft.com/office/drawing/2014/main" id="{CAC3BB47-5B6C-178E-F0F7-0CE48E2A4F2E}"/>
              </a:ext>
            </a:extLst>
          </p:cNvPr>
          <p:cNvSpPr txBox="1"/>
          <p:nvPr/>
        </p:nvSpPr>
        <p:spPr>
          <a:xfrm>
            <a:off x="5148072" y="5226205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2000"/>
              </a:lnSpc>
              <a:buNone/>
            </a:pPr>
            <a:r>
              <a:rPr lang="en-US" sz="11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Dedicated fast transient clamp — impulses are too fast for ML classification windows.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7" name="Shape 54">
            <a:extLst>
              <a:ext uri="{FF2B5EF4-FFF2-40B4-BE49-F238E27FC236}">
                <a16:creationId xmlns:a16="http://schemas.microsoft.com/office/drawing/2014/main" id="{0964FE36-F68D-C82E-5966-829D90D77072}"/>
              </a:ext>
            </a:extLst>
          </p:cNvPr>
          <p:cNvSpPr/>
          <p:nvPr/>
        </p:nvSpPr>
        <p:spPr>
          <a:xfrm>
            <a:off x="7274052" y="4801183"/>
            <a:ext cx="213055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9" name="Text 56">
            <a:extLst>
              <a:ext uri="{FF2B5EF4-FFF2-40B4-BE49-F238E27FC236}">
                <a16:creationId xmlns:a16="http://schemas.microsoft.com/office/drawing/2014/main" id="{02B89BC0-2FB2-9F96-4B6B-20BF75B6079E}"/>
              </a:ext>
            </a:extLst>
          </p:cNvPr>
          <p:cNvSpPr txBox="1"/>
          <p:nvPr/>
        </p:nvSpPr>
        <p:spPr>
          <a:xfrm>
            <a:off x="7420356" y="4906165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Speech intelligibility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0" name="Text 57">
            <a:extLst>
              <a:ext uri="{FF2B5EF4-FFF2-40B4-BE49-F238E27FC236}">
                <a16:creationId xmlns:a16="http://schemas.microsoft.com/office/drawing/2014/main" id="{B908C88C-EB76-C67B-B210-9CBCB3ECBD2E}"/>
              </a:ext>
            </a:extLst>
          </p:cNvPr>
          <p:cNvSpPr txBox="1"/>
          <p:nvPr/>
        </p:nvSpPr>
        <p:spPr>
          <a:xfrm>
            <a:off x="7420356" y="5226205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2000"/>
              </a:lnSpc>
              <a:buNone/>
            </a:pPr>
            <a:r>
              <a:rPr lang="en-US" sz="11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TinyML engine freezes filter adaptation whenever speech is detected.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1" name="Shape 58">
            <a:extLst>
              <a:ext uri="{FF2B5EF4-FFF2-40B4-BE49-F238E27FC236}">
                <a16:creationId xmlns:a16="http://schemas.microsoft.com/office/drawing/2014/main" id="{A3E6D508-3FB2-4277-FC79-E58A7A283E58}"/>
              </a:ext>
            </a:extLst>
          </p:cNvPr>
          <p:cNvSpPr/>
          <p:nvPr/>
        </p:nvSpPr>
        <p:spPr>
          <a:xfrm>
            <a:off x="9546336" y="4801183"/>
            <a:ext cx="2130552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3" name="Text 60">
            <a:extLst>
              <a:ext uri="{FF2B5EF4-FFF2-40B4-BE49-F238E27FC236}">
                <a16:creationId xmlns:a16="http://schemas.microsoft.com/office/drawing/2014/main" id="{E38D8EE5-37ED-62A1-6CEA-BE58A2C4D46F}"/>
              </a:ext>
            </a:extLst>
          </p:cNvPr>
          <p:cNvSpPr txBox="1"/>
          <p:nvPr/>
        </p:nvSpPr>
        <p:spPr>
          <a:xfrm>
            <a:off x="9692640" y="4906165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Real-time embedded performance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4" name="Text 61">
            <a:extLst>
              <a:ext uri="{FF2B5EF4-FFF2-40B4-BE49-F238E27FC236}">
                <a16:creationId xmlns:a16="http://schemas.microsoft.com/office/drawing/2014/main" id="{144AC953-E43C-8D98-5EE8-C1A20579ED6D}"/>
              </a:ext>
            </a:extLst>
          </p:cNvPr>
          <p:cNvSpPr txBox="1"/>
          <p:nvPr/>
        </p:nvSpPr>
        <p:spPr>
          <a:xfrm>
            <a:off x="9692640" y="5226205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2000"/>
              </a:lnSpc>
              <a:buNone/>
            </a:pPr>
            <a:r>
              <a:rPr lang="en-US" sz="11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Lightweight classical DSP plus a small quantized controller model, not a heavy neural denoiser.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98" name="Text 75">
            <a:extLst>
              <a:ext uri="{FF2B5EF4-FFF2-40B4-BE49-F238E27FC236}">
                <a16:creationId xmlns:a16="http://schemas.microsoft.com/office/drawing/2014/main" id="{6824C4D0-3277-B071-5A97-7651F1EEDA35}"/>
              </a:ext>
            </a:extLst>
          </p:cNvPr>
          <p:cNvSpPr txBox="1"/>
          <p:nvPr/>
        </p:nvSpPr>
        <p:spPr>
          <a:xfrm>
            <a:off x="566928" y="6126969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indent="0">
              <a:buNone/>
              <a:defRPr sz="1100" b="1" kern="0" spc="100">
                <a:solidFill>
                  <a:srgbClr val="1D5C8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KEY INNOVATION   </a:t>
            </a:r>
            <a:r>
              <a:rPr lang="en-US" sz="1400" b="0" kern="1200" dirty="0">
                <a:solidFill>
                  <a:srgbClr val="10243A"/>
                </a:solidFill>
              </a:rPr>
              <a:t>TinyML does not replace the ANC algorithm — it intelligently controls the DSP parameters according to the detected acoustic condition.</a:t>
            </a:r>
          </a:p>
        </p:txBody>
      </p:sp>
      <p:sp>
        <p:nvSpPr>
          <p:cNvPr id="15402" name="Shape 62">
            <a:extLst>
              <a:ext uri="{FF2B5EF4-FFF2-40B4-BE49-F238E27FC236}">
                <a16:creationId xmlns:a16="http://schemas.microsoft.com/office/drawing/2014/main" id="{A5CB8385-6202-0C16-2484-431A6A0A12E1}"/>
              </a:ext>
            </a:extLst>
          </p:cNvPr>
          <p:cNvSpPr/>
          <p:nvPr/>
        </p:nvSpPr>
        <p:spPr>
          <a:xfrm>
            <a:off x="457200" y="3544627"/>
            <a:ext cx="360273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04" name="Text 64">
            <a:extLst>
              <a:ext uri="{FF2B5EF4-FFF2-40B4-BE49-F238E27FC236}">
                <a16:creationId xmlns:a16="http://schemas.microsoft.com/office/drawing/2014/main" id="{14185BC2-A7C8-B16E-93E1-3C06E173196D}"/>
              </a:ext>
            </a:extLst>
          </p:cNvPr>
          <p:cNvSpPr txBox="1"/>
          <p:nvPr/>
        </p:nvSpPr>
        <p:spPr>
          <a:xfrm>
            <a:off x="619477" y="3645211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Real-time DSP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05" name="Text 65">
            <a:extLst>
              <a:ext uri="{FF2B5EF4-FFF2-40B4-BE49-F238E27FC236}">
                <a16:creationId xmlns:a16="http://schemas.microsoft.com/office/drawing/2014/main" id="{0A52FD68-3242-4750-02C5-A5EFE86E6010}"/>
              </a:ext>
            </a:extLst>
          </p:cNvPr>
          <p:cNvSpPr txBox="1"/>
          <p:nvPr/>
        </p:nvSpPr>
        <p:spPr>
          <a:xfrm>
            <a:off x="621792" y="3892099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Sample- and block-level audio processing using transient protection, VSS-NLMS and Wiener filtering.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06" name="Shape 66">
            <a:extLst>
              <a:ext uri="{FF2B5EF4-FFF2-40B4-BE49-F238E27FC236}">
                <a16:creationId xmlns:a16="http://schemas.microsoft.com/office/drawing/2014/main" id="{54673423-FF91-6BE8-581E-6B595FAF2956}"/>
              </a:ext>
            </a:extLst>
          </p:cNvPr>
          <p:cNvSpPr/>
          <p:nvPr/>
        </p:nvSpPr>
        <p:spPr>
          <a:xfrm>
            <a:off x="4283964" y="3544627"/>
            <a:ext cx="360273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08" name="Text 68">
            <a:extLst>
              <a:ext uri="{FF2B5EF4-FFF2-40B4-BE49-F238E27FC236}">
                <a16:creationId xmlns:a16="http://schemas.microsoft.com/office/drawing/2014/main" id="{0CD47FE4-B497-54F9-A1F9-0B2BD696DBC7}"/>
              </a:ext>
            </a:extLst>
          </p:cNvPr>
          <p:cNvSpPr txBox="1"/>
          <p:nvPr/>
        </p:nvSpPr>
        <p:spPr>
          <a:xfrm>
            <a:off x="4446241" y="3645211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TinyML control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09" name="Text 69">
            <a:extLst>
              <a:ext uri="{FF2B5EF4-FFF2-40B4-BE49-F238E27FC236}">
                <a16:creationId xmlns:a16="http://schemas.microsoft.com/office/drawing/2014/main" id="{75CC6511-322F-12F9-531C-8505073C8B5E}"/>
              </a:ext>
            </a:extLst>
          </p:cNvPr>
          <p:cNvSpPr txBox="1"/>
          <p:nvPr/>
        </p:nvSpPr>
        <p:spPr>
          <a:xfrm>
            <a:off x="4448556" y="3892099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Classifies the acoustic condition as stationary noise, non-stationary noise or speech.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10" name="Shape 70">
            <a:extLst>
              <a:ext uri="{FF2B5EF4-FFF2-40B4-BE49-F238E27FC236}">
                <a16:creationId xmlns:a16="http://schemas.microsoft.com/office/drawing/2014/main" id="{00A19C62-21A5-F934-4A12-2BCB2EAFE79D}"/>
              </a:ext>
            </a:extLst>
          </p:cNvPr>
          <p:cNvSpPr/>
          <p:nvPr/>
        </p:nvSpPr>
        <p:spPr>
          <a:xfrm>
            <a:off x="8110728" y="3544627"/>
            <a:ext cx="360273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12" name="Text 72">
            <a:extLst>
              <a:ext uri="{FF2B5EF4-FFF2-40B4-BE49-F238E27FC236}">
                <a16:creationId xmlns:a16="http://schemas.microsoft.com/office/drawing/2014/main" id="{DAF419D6-1AA0-A34B-0AF9-EB724709EF44}"/>
              </a:ext>
            </a:extLst>
          </p:cNvPr>
          <p:cNvSpPr txBox="1"/>
          <p:nvPr/>
        </p:nvSpPr>
        <p:spPr>
          <a:xfrm>
            <a:off x="8273005" y="3645211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Speech protection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13" name="Text 73">
            <a:extLst>
              <a:ext uri="{FF2B5EF4-FFF2-40B4-BE49-F238E27FC236}">
                <a16:creationId xmlns:a16="http://schemas.microsoft.com/office/drawing/2014/main" id="{9824F444-B7A4-2EB4-EC8E-6CAD08B494A7}"/>
              </a:ext>
            </a:extLst>
          </p:cNvPr>
          <p:cNvSpPr txBox="1"/>
          <p:nvPr/>
        </p:nvSpPr>
        <p:spPr>
          <a:xfrm>
            <a:off x="8275320" y="3892099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VAD and confidence-aware control reduce the risk of cancelling desired speech.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415" name="Picture 15414">
            <a:extLst>
              <a:ext uri="{FF2B5EF4-FFF2-40B4-BE49-F238E27FC236}">
                <a16:creationId xmlns:a16="http://schemas.microsoft.com/office/drawing/2014/main" id="{D443952D-8E75-7D4E-1CB2-7F86D15DC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47"/>
            <a:ext cx="1673352" cy="97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6" name="Text 30">
            <a:extLst>
              <a:ext uri="{FF2B5EF4-FFF2-40B4-BE49-F238E27FC236}">
                <a16:creationId xmlns:a16="http://schemas.microsoft.com/office/drawing/2014/main" id="{C7505914-B216-3167-6A4B-D8CEB3B64179}"/>
              </a:ext>
            </a:extLst>
          </p:cNvPr>
          <p:cNvSpPr txBox="1"/>
          <p:nvPr/>
        </p:nvSpPr>
        <p:spPr>
          <a:xfrm>
            <a:off x="7526090" y="1115316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5D718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V1 SCHEMATIC  —  KiCad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31">
            <a:extLst>
              <a:ext uri="{FF2B5EF4-FFF2-40B4-BE49-F238E27FC236}">
                <a16:creationId xmlns:a16="http://schemas.microsoft.com/office/drawing/2014/main" id="{427EA821-96E6-01D5-9091-7001CEBD576B}"/>
              </a:ext>
            </a:extLst>
          </p:cNvPr>
          <p:cNvSpPr/>
          <p:nvPr/>
        </p:nvSpPr>
        <p:spPr>
          <a:xfrm>
            <a:off x="7526090" y="1325628"/>
            <a:ext cx="4507992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Image 1" descr="assets/schematic.png">
            <a:extLst>
              <a:ext uri="{FF2B5EF4-FFF2-40B4-BE49-F238E27FC236}">
                <a16:creationId xmlns:a16="http://schemas.microsoft.com/office/drawing/2014/main" id="{882836F1-70A3-507C-003F-77CEDAD2A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386" y="1389636"/>
            <a:ext cx="4343400" cy="2354580"/>
          </a:xfrm>
          <a:prstGeom prst="rect">
            <a:avLst/>
          </a:prstGeom>
        </p:spPr>
      </p:pic>
      <p:sp>
        <p:nvSpPr>
          <p:cNvPr id="49" name="Text 32">
            <a:extLst>
              <a:ext uri="{FF2B5EF4-FFF2-40B4-BE49-F238E27FC236}">
                <a16:creationId xmlns:a16="http://schemas.microsoft.com/office/drawing/2014/main" id="{FF7FC782-A1FE-DCAB-1255-B8CED26CD5A1}"/>
              </a:ext>
            </a:extLst>
          </p:cNvPr>
          <p:cNvSpPr txBox="1"/>
          <p:nvPr/>
        </p:nvSpPr>
        <p:spPr>
          <a:xfrm>
            <a:off x="7526090" y="4259070"/>
            <a:ext cx="4507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5D718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INTERACTIVE ANC DASHBOARD  —  src/pipeline.py + visualize.py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33">
            <a:extLst>
              <a:ext uri="{FF2B5EF4-FFF2-40B4-BE49-F238E27FC236}">
                <a16:creationId xmlns:a16="http://schemas.microsoft.com/office/drawing/2014/main" id="{2A278A3B-C4DC-38A1-1B6F-816F89CCCDC8}"/>
              </a:ext>
            </a:extLst>
          </p:cNvPr>
          <p:cNvSpPr/>
          <p:nvPr/>
        </p:nvSpPr>
        <p:spPr>
          <a:xfrm>
            <a:off x="7526090" y="4469382"/>
            <a:ext cx="4507992" cy="2002536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2" descr="assets/dashboard.png">
            <a:extLst>
              <a:ext uri="{FF2B5EF4-FFF2-40B4-BE49-F238E27FC236}">
                <a16:creationId xmlns:a16="http://schemas.microsoft.com/office/drawing/2014/main" id="{35C0E74C-CC9D-5683-6DB4-10686825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386" y="4533390"/>
            <a:ext cx="4343400" cy="1869948"/>
          </a:xfrm>
          <a:prstGeom prst="rect">
            <a:avLst/>
          </a:prstGeom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B1F9F724-A6BA-D41E-C1C7-6216E1FE31A6}"/>
              </a:ext>
            </a:extLst>
          </p:cNvPr>
          <p:cNvSpPr txBox="1"/>
          <p:nvPr/>
        </p:nvSpPr>
        <p:spPr>
          <a:xfrm>
            <a:off x="142911" y="5591994"/>
            <a:ext cx="4361437" cy="59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1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REAL-TIME PROCESSING PIPELINE  —  ESP32-S3, DUAL-CORE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8CD37173-3BF9-F962-3BD6-4C85DA75B824}"/>
              </a:ext>
            </a:extLst>
          </p:cNvPr>
          <p:cNvSpPr/>
          <p:nvPr/>
        </p:nvSpPr>
        <p:spPr>
          <a:xfrm>
            <a:off x="4545146" y="1563372"/>
            <a:ext cx="2898648" cy="2359656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DBB6B4E1-C494-373E-4C15-63622F1A33B8}"/>
              </a:ext>
            </a:extLst>
          </p:cNvPr>
          <p:cNvSpPr txBox="1"/>
          <p:nvPr/>
        </p:nvSpPr>
        <p:spPr>
          <a:xfrm>
            <a:off x="4685285" y="1709676"/>
            <a:ext cx="2466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FFA75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SOFTWARE, DSP &amp; ML STACK</a:t>
            </a:r>
            <a:endParaRPr lang="en-US" sz="1000" dirty="0">
              <a:solidFill>
                <a:srgbClr val="FFA7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E7CD5474-9D30-42ED-18FB-4886ACC91E38}"/>
              </a:ext>
            </a:extLst>
          </p:cNvPr>
          <p:cNvSpPr txBox="1"/>
          <p:nvPr/>
        </p:nvSpPr>
        <p:spPr>
          <a:xfrm>
            <a:off x="4692050" y="1983996"/>
            <a:ext cx="2587151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Python · NumPy · SciPy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librosa · SoundFile · PyRoomAcoustics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Matplotlib · pystoi (STOI scoring)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TensorFlow → INT8 post-training quantization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TFLite for Microcontrollers (planned deploy)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Streamlit dashboard · Tkinter hardware UI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 / C++ · ESP-IDF build tools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Data: LibriSpeech dev-clean @ 16 kHz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Stationary (DEMAND): NOFFICE/NFIELD/NPARK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Non-stationary: PCAFE/PSTATION/SSTRAFFIC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8B861AC7-56DA-DA47-B00F-E617B36E4D57}"/>
              </a:ext>
            </a:extLst>
          </p:cNvPr>
          <p:cNvSpPr/>
          <p:nvPr/>
        </p:nvSpPr>
        <p:spPr>
          <a:xfrm>
            <a:off x="4545146" y="3996180"/>
            <a:ext cx="2898648" cy="2194560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18CDF2E9-8DFE-6D97-A10D-E2304A1A911C}"/>
              </a:ext>
            </a:extLst>
          </p:cNvPr>
          <p:cNvSpPr txBox="1"/>
          <p:nvPr/>
        </p:nvSpPr>
        <p:spPr>
          <a:xfrm>
            <a:off x="4685285" y="4142484"/>
            <a:ext cx="2466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0E7C3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HARDWARE BOM  —  V1 / KiCad</a:t>
            </a:r>
            <a:endParaRPr lang="en-US" sz="1000" dirty="0">
              <a:solidFill>
                <a:srgbClr val="0E7C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9846C75F-2805-5C02-7D92-BA686AC68D00}"/>
              </a:ext>
            </a:extLst>
          </p:cNvPr>
          <p:cNvSpPr txBox="1"/>
          <p:nvPr/>
        </p:nvSpPr>
        <p:spPr>
          <a:xfrm>
            <a:off x="4692050" y="4416804"/>
            <a:ext cx="2587151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ESP32-S3-WROOM-1 (dual-core, 240 MHz)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INMP441 I2S MEMS microphone × 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MAX98357A I2S DAC + Class-D amp (5 V rail)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4–8 Ω speaker (V1 demonstration)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USB_C_Receptacle_USB2.0_14P (CC1/CC2 → 5.1 kΩ)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AMS1117-3.3 LDO — buck regulator for final build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Conn_01x06 header + external CP2102/FTDI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SSD1306 128×64 OLED telemetry (optional)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Push buttons, resistors, decoupling capacitors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58A1A76-02EE-E9C3-925C-883D10B8D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19" y="1667206"/>
            <a:ext cx="4361437" cy="363656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B8D644E-0A4F-6715-FC82-BC6EAB5554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747"/>
            <a:ext cx="1673352" cy="973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5" name="Group 24">
            <a:extLst>
              <a:ext uri="{FF2B5EF4-FFF2-40B4-BE49-F238E27FC236}">
                <a16:creationId xmlns:a16="http://schemas.microsoft.com/office/drawing/2014/main" id="{02A31EFB-7D0C-9ABF-F0C7-52085AAB7C72}"/>
              </a:ext>
            </a:extLst>
          </p:cNvPr>
          <p:cNvGrpSpPr/>
          <p:nvPr/>
        </p:nvGrpSpPr>
        <p:grpSpPr>
          <a:xfrm>
            <a:off x="329773" y="5959946"/>
            <a:ext cx="11401979" cy="701208"/>
            <a:chOff x="0" y="-38100"/>
            <a:chExt cx="4266827" cy="259337"/>
          </a:xfrm>
        </p:grpSpPr>
        <p:sp>
          <p:nvSpPr>
            <p:cNvPr id="17416" name="Freeform 25">
              <a:extLst>
                <a:ext uri="{FF2B5EF4-FFF2-40B4-BE49-F238E27FC236}">
                  <a16:creationId xmlns:a16="http://schemas.microsoft.com/office/drawing/2014/main" id="{5B8D6E57-3E30-B494-9110-C0CE430E98B7}"/>
                </a:ext>
              </a:extLst>
            </p:cNvPr>
            <p:cNvSpPr/>
            <p:nvPr/>
          </p:nvSpPr>
          <p:spPr>
            <a:xfrm>
              <a:off x="0" y="0"/>
              <a:ext cx="4266827" cy="221237"/>
            </a:xfrm>
            <a:custGeom>
              <a:avLst/>
              <a:gdLst/>
              <a:ahLst/>
              <a:cxnLst/>
              <a:rect l="l" t="t" r="r" b="b"/>
              <a:pathLst>
                <a:path w="4266827" h="221237">
                  <a:moveTo>
                    <a:pt x="24372" y="0"/>
                  </a:moveTo>
                  <a:lnTo>
                    <a:pt x="4242455" y="0"/>
                  </a:lnTo>
                  <a:cubicBezTo>
                    <a:pt x="4255915" y="0"/>
                    <a:pt x="4266827" y="10912"/>
                    <a:pt x="4266827" y="24372"/>
                  </a:cubicBezTo>
                  <a:lnTo>
                    <a:pt x="4266827" y="196866"/>
                  </a:lnTo>
                  <a:cubicBezTo>
                    <a:pt x="4266827" y="203329"/>
                    <a:pt x="4264259" y="209528"/>
                    <a:pt x="4259688" y="214099"/>
                  </a:cubicBezTo>
                  <a:cubicBezTo>
                    <a:pt x="4255118" y="218670"/>
                    <a:pt x="4248919" y="221237"/>
                    <a:pt x="4242455" y="221237"/>
                  </a:cubicBezTo>
                  <a:lnTo>
                    <a:pt x="24372" y="221237"/>
                  </a:lnTo>
                  <a:cubicBezTo>
                    <a:pt x="10912" y="221237"/>
                    <a:pt x="0" y="210326"/>
                    <a:pt x="0" y="196866"/>
                  </a:cubicBezTo>
                  <a:lnTo>
                    <a:pt x="0" y="24372"/>
                  </a:lnTo>
                  <a:cubicBezTo>
                    <a:pt x="0" y="17908"/>
                    <a:pt x="2568" y="11709"/>
                    <a:pt x="7138" y="7138"/>
                  </a:cubicBezTo>
                  <a:cubicBezTo>
                    <a:pt x="11709" y="2568"/>
                    <a:pt x="17908" y="0"/>
                    <a:pt x="24372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TextBox 26">
              <a:extLst>
                <a:ext uri="{FF2B5EF4-FFF2-40B4-BE49-F238E27FC236}">
                  <a16:creationId xmlns:a16="http://schemas.microsoft.com/office/drawing/2014/main" id="{07F8EF1F-D139-DBB0-F013-DECC3C725A33}"/>
                </a:ext>
              </a:extLst>
            </p:cNvPr>
            <p:cNvSpPr txBox="1"/>
            <p:nvPr/>
          </p:nvSpPr>
          <p:spPr>
            <a:xfrm>
              <a:off x="0" y="-38100"/>
              <a:ext cx="4266827" cy="259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5AA03E1E-8DF8-8189-CD39-315447AC3FE4}"/>
              </a:ext>
            </a:extLst>
          </p:cNvPr>
          <p:cNvSpPr txBox="1"/>
          <p:nvPr/>
        </p:nvSpPr>
        <p:spPr>
          <a:xfrm>
            <a:off x="468775" y="1368097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1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WHY OUR DESIGN IS FEASIBLE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7B8616C-DEDC-15D6-58D5-036E9BAEA9B0}"/>
              </a:ext>
            </a:extLst>
          </p:cNvPr>
          <p:cNvSpPr/>
          <p:nvPr/>
        </p:nvSpPr>
        <p:spPr>
          <a:xfrm>
            <a:off x="457200" y="1639985"/>
            <a:ext cx="2624328" cy="1243621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9C63444-230A-E880-7A14-27BEA1F213E0}"/>
              </a:ext>
            </a:extLst>
          </p:cNvPr>
          <p:cNvSpPr txBox="1"/>
          <p:nvPr/>
        </p:nvSpPr>
        <p:spPr>
          <a:xfrm>
            <a:off x="651770" y="1731425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F2871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DUAL-MIC INPUT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29EE9F7-523F-266E-AC3F-BCD42677005F}"/>
              </a:ext>
            </a:extLst>
          </p:cNvPr>
          <p:cNvSpPr txBox="1"/>
          <p:nvPr/>
        </p:nvSpPr>
        <p:spPr>
          <a:xfrm>
            <a:off x="640080" y="197831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Primary + Reference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3909B12-AA50-815C-BA99-4F2FE9BE20A0}"/>
              </a:ext>
            </a:extLst>
          </p:cNvPr>
          <p:cNvSpPr txBox="1"/>
          <p:nvPr/>
        </p:nvSpPr>
        <p:spPr>
          <a:xfrm>
            <a:off x="640080" y="2270921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Feedforward noise estimation from an ambient reference channel. V2 adds an internal error mic for FxNLMS.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32DFAA5-3298-2D05-6765-5260A56E20BB}"/>
              </a:ext>
            </a:extLst>
          </p:cNvPr>
          <p:cNvSpPr/>
          <p:nvPr/>
        </p:nvSpPr>
        <p:spPr>
          <a:xfrm>
            <a:off x="3342132" y="1639985"/>
            <a:ext cx="2624328" cy="1243621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8AB0C3-54A0-463F-8731-B2AADD5292CB}"/>
              </a:ext>
            </a:extLst>
          </p:cNvPr>
          <p:cNvSpPr txBox="1"/>
          <p:nvPr/>
        </p:nvSpPr>
        <p:spPr>
          <a:xfrm>
            <a:off x="3536702" y="1731425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12A69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ADAPTIVE DSP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3533AD4-D99B-66B8-1150-9E006BB3B621}"/>
              </a:ext>
            </a:extLst>
          </p:cNvPr>
          <p:cNvSpPr txBox="1"/>
          <p:nvPr/>
        </p:nvSpPr>
        <p:spPr>
          <a:xfrm>
            <a:off x="3525012" y="197831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VSS-NLMS + Wiener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AD5FBC9-DCD2-D3C3-6A33-3B3B2A2AB42E}"/>
              </a:ext>
            </a:extLst>
          </p:cNvPr>
          <p:cNvSpPr txBox="1"/>
          <p:nvPr/>
        </p:nvSpPr>
        <p:spPr>
          <a:xfrm>
            <a:off x="3525012" y="2270921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Tracks changing acoustic paths without manual retuning; post-filter clears residual noise.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F3446FA-36AA-F0B2-EFA7-C31A652A9891}"/>
              </a:ext>
            </a:extLst>
          </p:cNvPr>
          <p:cNvSpPr/>
          <p:nvPr/>
        </p:nvSpPr>
        <p:spPr>
          <a:xfrm>
            <a:off x="6227064" y="1639985"/>
            <a:ext cx="2624328" cy="1243621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FC0179A-8922-CED9-F67B-FD6CF15802E7}"/>
              </a:ext>
            </a:extLst>
          </p:cNvPr>
          <p:cNvSpPr txBox="1"/>
          <p:nvPr/>
        </p:nvSpPr>
        <p:spPr>
          <a:xfrm>
            <a:off x="6421634" y="1731425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1E9E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TINYML CONTROL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3F70340-6BF6-ECA9-8ABA-5EB3D02C7856}"/>
              </a:ext>
            </a:extLst>
          </p:cNvPr>
          <p:cNvSpPr txBox="1"/>
          <p:nvPr/>
        </p:nvSpPr>
        <p:spPr>
          <a:xfrm>
            <a:off x="6409944" y="197831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3-class CNN → μ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C52ECA6-2DFE-B754-6441-7CB87DB01E84}"/>
              </a:ext>
            </a:extLst>
          </p:cNvPr>
          <p:cNvSpPr txBox="1"/>
          <p:nvPr/>
        </p:nvSpPr>
        <p:spPr>
          <a:xfrm>
            <a:off x="6409944" y="2270921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INT8 quantized, target &lt; 64 KB peak RAM and &lt; 20 ms inference per 100 ms hop.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37BE7BC1-E479-DB7A-C641-0A45BB0E436A}"/>
              </a:ext>
            </a:extLst>
          </p:cNvPr>
          <p:cNvSpPr/>
          <p:nvPr/>
        </p:nvSpPr>
        <p:spPr>
          <a:xfrm>
            <a:off x="9111996" y="1639985"/>
            <a:ext cx="2624328" cy="1243621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A4453F92-5962-6A18-F945-5F12D43E35F5}"/>
              </a:ext>
            </a:extLst>
          </p:cNvPr>
          <p:cNvSpPr txBox="1"/>
          <p:nvPr/>
        </p:nvSpPr>
        <p:spPr>
          <a:xfrm>
            <a:off x="9306566" y="1731425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5A7CA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EMBEDDED READY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8634C29-B7F6-EB47-D20D-7C79476609F2}"/>
              </a:ext>
            </a:extLst>
          </p:cNvPr>
          <p:cNvSpPr txBox="1"/>
          <p:nvPr/>
        </p:nvSpPr>
        <p:spPr>
          <a:xfrm>
            <a:off x="9294876" y="197831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ESP32-S3 dual-core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EDAD1AB-DFE6-DCB6-9678-50540B031AD4}"/>
              </a:ext>
            </a:extLst>
          </p:cNvPr>
          <p:cNvSpPr txBox="1"/>
          <p:nvPr/>
        </p:nvSpPr>
        <p:spPr>
          <a:xfrm>
            <a:off x="9294876" y="2270921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DSP on Core 0, TinyML on Core 1, DMA audio streaming — no Linux SBC required.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4BE7FA2-3F36-6B53-DF9F-E941F6FE9747}"/>
              </a:ext>
            </a:extLst>
          </p:cNvPr>
          <p:cNvSpPr txBox="1"/>
          <p:nvPr/>
        </p:nvSpPr>
        <p:spPr>
          <a:xfrm>
            <a:off x="457200" y="3102446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indent="0">
              <a:buNone/>
              <a:defRPr sz="1600" b="1" kern="0" spc="11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KEY RISKS </a:t>
            </a:r>
            <a:r>
              <a:rPr lang="en-US"/>
              <a:t>AND MITIGATIONS</a:t>
            </a:r>
            <a:endParaRPr lang="en-US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2AF5FB28-5179-665D-6133-8EA6EDBFB774}"/>
              </a:ext>
            </a:extLst>
          </p:cNvPr>
          <p:cNvSpPr/>
          <p:nvPr/>
        </p:nvSpPr>
        <p:spPr>
          <a:xfrm>
            <a:off x="457200" y="3321902"/>
            <a:ext cx="7178040" cy="347472"/>
          </a:xfrm>
          <a:prstGeom prst="roundRect">
            <a:avLst>
              <a:gd name="adj" fmla="val 10526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B915B4C8-75A2-7967-5ED0-648B4D0186EE}"/>
              </a:ext>
            </a:extLst>
          </p:cNvPr>
          <p:cNvSpPr txBox="1"/>
          <p:nvPr/>
        </p:nvSpPr>
        <p:spPr>
          <a:xfrm>
            <a:off x="603504" y="332190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CHALLENGE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377EDB66-89D6-6401-CFEF-27571D6F13F8}"/>
              </a:ext>
            </a:extLst>
          </p:cNvPr>
          <p:cNvSpPr txBox="1"/>
          <p:nvPr/>
        </p:nvSpPr>
        <p:spPr>
          <a:xfrm>
            <a:off x="2752344" y="332190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RISK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FBE15D01-A8D8-82E2-5960-68BE701A88D7}"/>
              </a:ext>
            </a:extLst>
          </p:cNvPr>
          <p:cNvSpPr txBox="1"/>
          <p:nvPr/>
        </p:nvSpPr>
        <p:spPr>
          <a:xfrm>
            <a:off x="4901184" y="332190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MITIGATION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6E0064DD-A459-7107-2D32-6FE4EA11FF19}"/>
              </a:ext>
            </a:extLst>
          </p:cNvPr>
          <p:cNvSpPr/>
          <p:nvPr/>
        </p:nvSpPr>
        <p:spPr>
          <a:xfrm>
            <a:off x="457200" y="3705950"/>
            <a:ext cx="7178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341B35E-E03F-884D-2D96-58BC71AC113D}"/>
              </a:ext>
            </a:extLst>
          </p:cNvPr>
          <p:cNvSpPr txBox="1"/>
          <p:nvPr/>
        </p:nvSpPr>
        <p:spPr>
          <a:xfrm>
            <a:off x="603504" y="373338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Speech leakage into reference mic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8C8D3755-3F2B-AE96-C74D-A5B6A03AF58E}"/>
              </a:ext>
            </a:extLst>
          </p:cNvPr>
          <p:cNvSpPr txBox="1"/>
          <p:nvPr/>
        </p:nvSpPr>
        <p:spPr>
          <a:xfrm>
            <a:off x="2752344" y="373338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Speech may be cancelled as noise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F488805D-B1B5-3C50-5C83-1749F076FCA2}"/>
              </a:ext>
            </a:extLst>
          </p:cNvPr>
          <p:cNvSpPr txBox="1"/>
          <p:nvPr/>
        </p:nvSpPr>
        <p:spPr>
          <a:xfrm>
            <a:off x="4901184" y="373338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VAD-gated adaptation and a lower NLMS step size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640EFAE8-3E70-32BF-324D-DCCEE208713D}"/>
              </a:ext>
            </a:extLst>
          </p:cNvPr>
          <p:cNvSpPr/>
          <p:nvPr/>
        </p:nvSpPr>
        <p:spPr>
          <a:xfrm>
            <a:off x="457200" y="4263734"/>
            <a:ext cx="7178040" cy="512064"/>
          </a:xfrm>
          <a:prstGeom prst="roundRect">
            <a:avLst>
              <a:gd name="adj" fmla="val 7143"/>
            </a:avLst>
          </a:prstGeom>
          <a:solidFill>
            <a:srgbClr val="E9EEF4"/>
          </a:solidFill>
          <a:ln w="1270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961A99CC-0357-62BF-F925-9D0827811BE7}"/>
              </a:ext>
            </a:extLst>
          </p:cNvPr>
          <p:cNvSpPr txBox="1"/>
          <p:nvPr/>
        </p:nvSpPr>
        <p:spPr>
          <a:xfrm>
            <a:off x="603504" y="429116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Door slams or pothole impacts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2C4D12F2-5C51-6511-6A74-18CE16562F08}"/>
              </a:ext>
            </a:extLst>
          </p:cNvPr>
          <p:cNvSpPr txBox="1"/>
          <p:nvPr/>
        </p:nvSpPr>
        <p:spPr>
          <a:xfrm>
            <a:off x="2752344" y="429116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Adaptive filter may become unstable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3DA9D360-B428-F3EF-4BF3-54FF30592B97}"/>
              </a:ext>
            </a:extLst>
          </p:cNvPr>
          <p:cNvSpPr txBox="1"/>
          <p:nvPr/>
        </p:nvSpPr>
        <p:spPr>
          <a:xfrm>
            <a:off x="4901184" y="429116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Kurtosis transient detection; temporary update freeze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CB42124B-560D-35CA-4627-8416C6E748D2}"/>
              </a:ext>
            </a:extLst>
          </p:cNvPr>
          <p:cNvSpPr/>
          <p:nvPr/>
        </p:nvSpPr>
        <p:spPr>
          <a:xfrm>
            <a:off x="457200" y="4821518"/>
            <a:ext cx="7178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90B3333E-FBF3-3974-F2B9-958ECAE4158A}"/>
              </a:ext>
            </a:extLst>
          </p:cNvPr>
          <p:cNvSpPr txBox="1"/>
          <p:nvPr/>
        </p:nvSpPr>
        <p:spPr>
          <a:xfrm>
            <a:off x="603504" y="484895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Changing noise conditions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8DA4DFD4-C6F4-F15D-B1DF-6022BA147460}"/>
              </a:ext>
            </a:extLst>
          </p:cNvPr>
          <p:cNvSpPr txBox="1"/>
          <p:nvPr/>
        </p:nvSpPr>
        <p:spPr>
          <a:xfrm>
            <a:off x="2752344" y="484895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Fixed filter parameters perform poorly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0C26C742-BED0-87FD-4D4C-946E01E7B366}"/>
              </a:ext>
            </a:extLst>
          </p:cNvPr>
          <p:cNvSpPr txBox="1"/>
          <p:nvPr/>
        </p:nvSpPr>
        <p:spPr>
          <a:xfrm>
            <a:off x="4901184" y="484895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TinyML-based dynamic parameter selection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90A9B9BB-9FF3-3698-C7AE-21D518520E8D}"/>
              </a:ext>
            </a:extLst>
          </p:cNvPr>
          <p:cNvSpPr/>
          <p:nvPr/>
        </p:nvSpPr>
        <p:spPr>
          <a:xfrm>
            <a:off x="457200" y="5379302"/>
            <a:ext cx="7178040" cy="512064"/>
          </a:xfrm>
          <a:prstGeom prst="roundRect">
            <a:avLst>
              <a:gd name="adj" fmla="val 7143"/>
            </a:avLst>
          </a:prstGeom>
          <a:solidFill>
            <a:srgbClr val="E9EEF4"/>
          </a:solidFill>
          <a:ln w="1270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CFAE577C-729D-2282-439F-D864AEEB91B7}"/>
              </a:ext>
            </a:extLst>
          </p:cNvPr>
          <p:cNvSpPr txBox="1"/>
          <p:nvPr/>
        </p:nvSpPr>
        <p:spPr>
          <a:xfrm>
            <a:off x="603504" y="5406734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DSP and ML competing for CPU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9D7552A2-81DA-0A6F-BAC5-0C2C92A318E8}"/>
              </a:ext>
            </a:extLst>
          </p:cNvPr>
          <p:cNvSpPr txBox="1"/>
          <p:nvPr/>
        </p:nvSpPr>
        <p:spPr>
          <a:xfrm>
            <a:off x="2752344" y="5406734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Audio dropouts or added latency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B8E36CED-0888-087B-B70C-446062AF39C0}"/>
              </a:ext>
            </a:extLst>
          </p:cNvPr>
          <p:cNvSpPr txBox="1"/>
          <p:nvPr/>
        </p:nvSpPr>
        <p:spPr>
          <a:xfrm>
            <a:off x="4901184" y="540673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DSP and TinyML pinned to separate ESP32-S3 cores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747734AD-5217-7548-3EC1-9C119EF9F45E}"/>
              </a:ext>
            </a:extLst>
          </p:cNvPr>
          <p:cNvSpPr txBox="1"/>
          <p:nvPr/>
        </p:nvSpPr>
        <p:spPr>
          <a:xfrm>
            <a:off x="7909560" y="310244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PROTOTYPE POWER BUDGET  —  V1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42DDA197-54DD-0ED4-B733-B5989AB130AA}"/>
              </a:ext>
            </a:extLst>
          </p:cNvPr>
          <p:cNvSpPr/>
          <p:nvPr/>
        </p:nvSpPr>
        <p:spPr>
          <a:xfrm>
            <a:off x="7909560" y="3321902"/>
            <a:ext cx="3822192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CDFB417B-1987-AB72-F246-29D8A71770CE}"/>
              </a:ext>
            </a:extLst>
          </p:cNvPr>
          <p:cNvSpPr txBox="1"/>
          <p:nvPr/>
        </p:nvSpPr>
        <p:spPr>
          <a:xfrm>
            <a:off x="8101584" y="348649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ESP32-S3  (3.3 V, ~400 mA)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1454E1CA-F1FC-7BE2-0E85-271B48584B24}"/>
              </a:ext>
            </a:extLst>
          </p:cNvPr>
          <p:cNvSpPr txBox="1"/>
          <p:nvPr/>
        </p:nvSpPr>
        <p:spPr>
          <a:xfrm>
            <a:off x="10424160" y="348649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1.32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B11218A4-9910-7EAE-6EA8-C736DF7043B7}"/>
              </a:ext>
            </a:extLst>
          </p:cNvPr>
          <p:cNvSpPr txBox="1"/>
          <p:nvPr/>
        </p:nvSpPr>
        <p:spPr>
          <a:xfrm>
            <a:off x="8101584" y="381110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 × INMP441 MEMS mics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DF267205-4763-1399-4CBB-B0419C290783}"/>
              </a:ext>
            </a:extLst>
          </p:cNvPr>
          <p:cNvSpPr txBox="1"/>
          <p:nvPr/>
        </p:nvSpPr>
        <p:spPr>
          <a:xfrm>
            <a:off x="10424160" y="381110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0.013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A9F0FA71-4BF8-3D4A-7F14-7F5F1268B425}"/>
              </a:ext>
            </a:extLst>
          </p:cNvPr>
          <p:cNvSpPr txBox="1"/>
          <p:nvPr/>
        </p:nvSpPr>
        <p:spPr>
          <a:xfrm>
            <a:off x="8101584" y="413571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SSD1306 OLED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0A646C0A-DAD5-050D-11F3-84C3EF7F7D6A}"/>
              </a:ext>
            </a:extLst>
          </p:cNvPr>
          <p:cNvSpPr txBox="1"/>
          <p:nvPr/>
        </p:nvSpPr>
        <p:spPr>
          <a:xfrm>
            <a:off x="10424160" y="413571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0.066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9187D1DF-94DF-560B-A4E4-D1C98DFB9C83}"/>
              </a:ext>
            </a:extLst>
          </p:cNvPr>
          <p:cNvSpPr txBox="1"/>
          <p:nvPr/>
        </p:nvSpPr>
        <p:spPr>
          <a:xfrm>
            <a:off x="8101584" y="446033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MAX98357A + speaker (typical)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0D9CE4D5-9981-02A0-401D-3BF3E080811C}"/>
              </a:ext>
            </a:extLst>
          </p:cNvPr>
          <p:cNvSpPr txBox="1"/>
          <p:nvPr/>
        </p:nvSpPr>
        <p:spPr>
          <a:xfrm>
            <a:off x="10424160" y="446033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1.11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45E76CA0-3A35-FEAB-5F2A-F29D16185545}"/>
              </a:ext>
            </a:extLst>
          </p:cNvPr>
          <p:cNvSpPr/>
          <p:nvPr/>
        </p:nvSpPr>
        <p:spPr>
          <a:xfrm>
            <a:off x="8028432" y="4766654"/>
            <a:ext cx="3584448" cy="274320"/>
          </a:xfrm>
          <a:prstGeom prst="roundRect">
            <a:avLst>
              <a:gd name="adj" fmla="val 1333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1ECCD4A1-B381-A0CE-3C56-922389EC281D}"/>
              </a:ext>
            </a:extLst>
          </p:cNvPr>
          <p:cNvSpPr txBox="1"/>
          <p:nvPr/>
        </p:nvSpPr>
        <p:spPr>
          <a:xfrm>
            <a:off x="8101584" y="478494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Estimated total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CA23CC3D-BF2F-313D-6A47-1F8CD6CAC33E}"/>
              </a:ext>
            </a:extLst>
          </p:cNvPr>
          <p:cNvSpPr txBox="1"/>
          <p:nvPr/>
        </p:nvSpPr>
        <p:spPr>
          <a:xfrm>
            <a:off x="10424160" y="478494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871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~2.5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5441311F-D618-C190-5979-925960CF1236}"/>
              </a:ext>
            </a:extLst>
          </p:cNvPr>
          <p:cNvSpPr/>
          <p:nvPr/>
        </p:nvSpPr>
        <p:spPr>
          <a:xfrm>
            <a:off x="8028432" y="5091266"/>
            <a:ext cx="3584448" cy="274320"/>
          </a:xfrm>
          <a:prstGeom prst="roundRect">
            <a:avLst>
              <a:gd name="adj" fmla="val 1333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7420EE8C-8684-4626-3D16-BA182B030E1A}"/>
              </a:ext>
            </a:extLst>
          </p:cNvPr>
          <p:cNvSpPr txBox="1"/>
          <p:nvPr/>
        </p:nvSpPr>
        <p:spPr>
          <a:xfrm>
            <a:off x="8101584" y="510955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Design margin  ×1.5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08" name="Text 58">
            <a:extLst>
              <a:ext uri="{FF2B5EF4-FFF2-40B4-BE49-F238E27FC236}">
                <a16:creationId xmlns:a16="http://schemas.microsoft.com/office/drawing/2014/main" id="{EA976EC1-FEC2-1AA6-2C40-53DA7FFAFDA7}"/>
              </a:ext>
            </a:extLst>
          </p:cNvPr>
          <p:cNvSpPr txBox="1"/>
          <p:nvPr/>
        </p:nvSpPr>
        <p:spPr>
          <a:xfrm>
            <a:off x="10424160" y="510955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871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~3.75 W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Shape 59">
            <a:extLst>
              <a:ext uri="{FF2B5EF4-FFF2-40B4-BE49-F238E27FC236}">
                <a16:creationId xmlns:a16="http://schemas.microsoft.com/office/drawing/2014/main" id="{4C04DC4D-93E6-2A45-A1F1-B1DA924D5933}"/>
              </a:ext>
            </a:extLst>
          </p:cNvPr>
          <p:cNvSpPr/>
          <p:nvPr/>
        </p:nvSpPr>
        <p:spPr>
          <a:xfrm>
            <a:off x="8028432" y="5479886"/>
            <a:ext cx="3584448" cy="365760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Text 60">
            <a:extLst>
              <a:ext uri="{FF2B5EF4-FFF2-40B4-BE49-F238E27FC236}">
                <a16:creationId xmlns:a16="http://schemas.microsoft.com/office/drawing/2014/main" id="{128C912F-E8F4-F673-01BB-36DA2923C897}"/>
              </a:ext>
            </a:extLst>
          </p:cNvPr>
          <p:cNvSpPr txBox="1"/>
          <p:nvPr/>
        </p:nvSpPr>
        <p:spPr>
          <a:xfrm>
            <a:off x="8156448" y="547988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Recommended supply:  5 V / 2–3 A USB-C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4" name="Text 62">
            <a:extLst>
              <a:ext uri="{FF2B5EF4-FFF2-40B4-BE49-F238E27FC236}">
                <a16:creationId xmlns:a16="http://schemas.microsoft.com/office/drawing/2014/main" id="{575E23E6-B8B2-779A-EEA8-47BB1731161B}"/>
              </a:ext>
            </a:extLst>
          </p:cNvPr>
          <p:cNvSpPr txBox="1"/>
          <p:nvPr/>
        </p:nvSpPr>
        <p:spPr>
          <a:xfrm>
            <a:off x="502920" y="608339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5C8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FALLBACK POLICY   </a:t>
            </a:r>
            <a:r>
              <a:rPr lang="en-US" sz="14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TinyML confidence falls below 0.60, the controller ignores the new prediction and retains the previous stable DSP state — the ANC path never depends on an uncertain classification.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8" name="Picture 17417">
            <a:extLst>
              <a:ext uri="{FF2B5EF4-FFF2-40B4-BE49-F238E27FC236}">
                <a16:creationId xmlns:a16="http://schemas.microsoft.com/office/drawing/2014/main" id="{5A7C9500-D205-1607-6882-684965BA5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47"/>
            <a:ext cx="1673352" cy="9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FA05F7EA-072B-BAF0-9042-EA50C45B9236}"/>
              </a:ext>
            </a:extLst>
          </p:cNvPr>
          <p:cNvSpPr/>
          <p:nvPr/>
        </p:nvSpPr>
        <p:spPr>
          <a:xfrm>
            <a:off x="457200" y="1378143"/>
            <a:ext cx="5257800" cy="2478024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594C4F-7A15-EDAC-86EB-9D089654EB03}"/>
              </a:ext>
            </a:extLst>
          </p:cNvPr>
          <p:cNvSpPr txBox="1"/>
          <p:nvPr/>
        </p:nvSpPr>
        <p:spPr>
          <a:xfrm>
            <a:off x="658368" y="1469583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Speech intelligibility (STOI) — Software PoC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A351D75F-2F03-C618-4B17-A541A620FA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2801017"/>
              </p:ext>
            </p:extLst>
          </p:nvPr>
        </p:nvGraphicFramePr>
        <p:xfrm>
          <a:off x="512064" y="1707327"/>
          <a:ext cx="5148072" cy="2139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>
            <a:extLst>
              <a:ext uri="{FF2B5EF4-FFF2-40B4-BE49-F238E27FC236}">
                <a16:creationId xmlns:a16="http://schemas.microsoft.com/office/drawing/2014/main" id="{EFA2F06C-52C6-6E2B-B178-6FF22E9C7687}"/>
              </a:ext>
            </a:extLst>
          </p:cNvPr>
          <p:cNvSpPr/>
          <p:nvPr/>
        </p:nvSpPr>
        <p:spPr>
          <a:xfrm>
            <a:off x="5989320" y="1258071"/>
            <a:ext cx="187082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AE5AFAB-E07B-574D-9989-44E66E7130DA}"/>
              </a:ext>
            </a:extLst>
          </p:cNvPr>
          <p:cNvSpPr txBox="1"/>
          <p:nvPr/>
        </p:nvSpPr>
        <p:spPr>
          <a:xfrm>
            <a:off x="6172200" y="1367799"/>
            <a:ext cx="16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6A0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0.9298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18E118E-FCD9-9690-EB06-325EA12055D4}"/>
              </a:ext>
            </a:extLst>
          </p:cNvPr>
          <p:cNvSpPr txBox="1"/>
          <p:nvPr/>
        </p:nvSpPr>
        <p:spPr>
          <a:xfrm>
            <a:off x="6172200" y="1742703"/>
            <a:ext cx="16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STOI after processing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 -3 dB input SNR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6055842C-D94F-8A5B-97DA-48DF2DE9DD00}"/>
              </a:ext>
            </a:extLst>
          </p:cNvPr>
          <p:cNvSpPr/>
          <p:nvPr/>
        </p:nvSpPr>
        <p:spPr>
          <a:xfrm>
            <a:off x="5989320" y="2254767"/>
            <a:ext cx="187082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DC43196-6F77-C1A3-A284-AC2657409153}"/>
              </a:ext>
            </a:extLst>
          </p:cNvPr>
          <p:cNvSpPr txBox="1"/>
          <p:nvPr/>
        </p:nvSpPr>
        <p:spPr>
          <a:xfrm>
            <a:off x="6172200" y="2364495"/>
            <a:ext cx="16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7F7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+7.95 dB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FD3E29B-E218-E6DD-8072-65B4D4C6402D}"/>
              </a:ext>
            </a:extLst>
          </p:cNvPr>
          <p:cNvSpPr txBox="1"/>
          <p:nvPr/>
        </p:nvSpPr>
        <p:spPr>
          <a:xfrm>
            <a:off x="6172200" y="2739399"/>
            <a:ext cx="16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Maximum reported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SNR gain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9169958-2758-6062-145E-3F932F345B2E}"/>
              </a:ext>
            </a:extLst>
          </p:cNvPr>
          <p:cNvSpPr/>
          <p:nvPr/>
        </p:nvSpPr>
        <p:spPr>
          <a:xfrm>
            <a:off x="5989320" y="3251463"/>
            <a:ext cx="187082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B503C59-DB45-7B8C-A29E-514750CD9700}"/>
              </a:ext>
            </a:extLst>
          </p:cNvPr>
          <p:cNvSpPr txBox="1"/>
          <p:nvPr/>
        </p:nvSpPr>
        <p:spPr>
          <a:xfrm>
            <a:off x="6172200" y="3361191"/>
            <a:ext cx="16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803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+0.2211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D71C96CA-CCF0-5B0C-EA84-4611F03BA002}"/>
              </a:ext>
            </a:extLst>
          </p:cNvPr>
          <p:cNvSpPr txBox="1"/>
          <p:nvPr/>
        </p:nvSpPr>
        <p:spPr>
          <a:xfrm>
            <a:off x="6172200" y="3736095"/>
            <a:ext cx="16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Maximum reported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STOI improvement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6845609-9FB7-6009-8FE9-DF1925940FC3}"/>
              </a:ext>
            </a:extLst>
          </p:cNvPr>
          <p:cNvSpPr txBox="1"/>
          <p:nvPr/>
        </p:nvSpPr>
        <p:spPr>
          <a:xfrm>
            <a:off x="8134465" y="1266741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10" dirty="0">
                <a:solidFill>
                  <a:srgbClr val="5D718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HARDWARE UI SIMULATOR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F849061-0669-021F-254D-547636D593F4}"/>
              </a:ext>
            </a:extLst>
          </p:cNvPr>
          <p:cNvSpPr/>
          <p:nvPr/>
        </p:nvSpPr>
        <p:spPr>
          <a:xfrm>
            <a:off x="8134465" y="1468383"/>
            <a:ext cx="3597287" cy="269748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1" descr="assets/hw_ui.png">
            <a:extLst>
              <a:ext uri="{FF2B5EF4-FFF2-40B4-BE49-F238E27FC236}">
                <a16:creationId xmlns:a16="http://schemas.microsoft.com/office/drawing/2014/main" id="{F6437E47-A72D-42B7-C291-374679E0C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693" y="1593289"/>
            <a:ext cx="3462830" cy="2447668"/>
          </a:xfrm>
          <a:prstGeom prst="rect">
            <a:avLst/>
          </a:prstGeom>
        </p:spPr>
      </p:pic>
      <p:sp>
        <p:nvSpPr>
          <p:cNvPr id="24" name="Shape 16">
            <a:extLst>
              <a:ext uri="{FF2B5EF4-FFF2-40B4-BE49-F238E27FC236}">
                <a16:creationId xmlns:a16="http://schemas.microsoft.com/office/drawing/2014/main" id="{519B6EF3-47DC-EF21-935D-6DF786D3E974}"/>
              </a:ext>
            </a:extLst>
          </p:cNvPr>
          <p:cNvSpPr/>
          <p:nvPr/>
        </p:nvSpPr>
        <p:spPr>
          <a:xfrm>
            <a:off x="457200" y="4386268"/>
            <a:ext cx="2651760" cy="9326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4347DCFE-138A-D1F5-E472-52E1D86F8E4E}"/>
              </a:ext>
            </a:extLst>
          </p:cNvPr>
          <p:cNvSpPr txBox="1"/>
          <p:nvPr/>
        </p:nvSpPr>
        <p:spPr>
          <a:xfrm>
            <a:off x="644811" y="44868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F2871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SPEECH INTELLIGIBILITY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AC54A24-598E-FC22-20E8-58408530A65C}"/>
              </a:ext>
            </a:extLst>
          </p:cNvPr>
          <p:cNvSpPr txBox="1"/>
          <p:nvPr/>
        </p:nvSpPr>
        <p:spPr>
          <a:xfrm>
            <a:off x="621792" y="473374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5000"/>
              </a:lnSpc>
              <a:buNone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Preserves speech while suppressing environmental noise.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8A62027A-1A1C-7351-BB61-B20D16D94D4D}"/>
              </a:ext>
            </a:extLst>
          </p:cNvPr>
          <p:cNvSpPr/>
          <p:nvPr/>
        </p:nvSpPr>
        <p:spPr>
          <a:xfrm>
            <a:off x="3291840" y="4386268"/>
            <a:ext cx="2651760" cy="9326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F7C0294C-A6DD-D270-375B-6B8FFB5F2DBA}"/>
              </a:ext>
            </a:extLst>
          </p:cNvPr>
          <p:cNvSpPr txBox="1"/>
          <p:nvPr/>
        </p:nvSpPr>
        <p:spPr>
          <a:xfrm>
            <a:off x="3479451" y="44868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12A69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REAL-TIME OPERATION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B5FA31B0-D55B-70E6-2A85-3192110FEEA4}"/>
              </a:ext>
            </a:extLst>
          </p:cNvPr>
          <p:cNvSpPr txBox="1"/>
          <p:nvPr/>
        </p:nvSpPr>
        <p:spPr>
          <a:xfrm>
            <a:off x="3456432" y="473374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5000"/>
              </a:lnSpc>
              <a:buNone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Low-latency embedded processing; DSP and ML on separate cores.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7D22DCF7-C3C2-3A50-97D8-A580CBD4EB27}"/>
              </a:ext>
            </a:extLst>
          </p:cNvPr>
          <p:cNvSpPr/>
          <p:nvPr/>
        </p:nvSpPr>
        <p:spPr>
          <a:xfrm>
            <a:off x="457200" y="5428684"/>
            <a:ext cx="2651760" cy="9326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74343A0F-66F7-2CDB-E9F5-A02AFCDC82C9}"/>
              </a:ext>
            </a:extLst>
          </p:cNvPr>
          <p:cNvSpPr txBox="1"/>
          <p:nvPr/>
        </p:nvSpPr>
        <p:spPr>
          <a:xfrm>
            <a:off x="644811" y="55292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1E9E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ADAPTIVE BEHAVIOUR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6315CAC9-91BB-FA5A-01C3-9FE49DD337FC}"/>
              </a:ext>
            </a:extLst>
          </p:cNvPr>
          <p:cNvSpPr txBox="1"/>
          <p:nvPr/>
        </p:nvSpPr>
        <p:spPr>
          <a:xfrm>
            <a:off x="621792" y="577615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5000"/>
              </a:lnSpc>
              <a:buNone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DSP parameters follow the detected acoustic condition automatically.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02849963-619C-176D-E27E-CCBF8ED63762}"/>
              </a:ext>
            </a:extLst>
          </p:cNvPr>
          <p:cNvSpPr/>
          <p:nvPr/>
        </p:nvSpPr>
        <p:spPr>
          <a:xfrm>
            <a:off x="3291840" y="5428684"/>
            <a:ext cx="2651760" cy="9326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62514ABA-41E1-49BD-C7D4-59585E7C5FCB}"/>
              </a:ext>
            </a:extLst>
          </p:cNvPr>
          <p:cNvSpPr txBox="1"/>
          <p:nvPr/>
        </p:nvSpPr>
        <p:spPr>
          <a:xfrm>
            <a:off x="3479451" y="55292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5A7CA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LOW-COST DEPLOYMENT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8D84347C-9853-8A45-4114-3AD169796440}"/>
              </a:ext>
            </a:extLst>
          </p:cNvPr>
          <p:cNvSpPr txBox="1"/>
          <p:nvPr/>
        </p:nvSpPr>
        <p:spPr>
          <a:xfrm>
            <a:off x="3456432" y="577615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95000"/>
              </a:lnSpc>
              <a:buNone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ESP32-S3 replaces a larger Linux-based computing platform.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F7D84342-FABF-742E-1CE5-5268AC66F315}"/>
              </a:ext>
            </a:extLst>
          </p:cNvPr>
          <p:cNvSpPr/>
          <p:nvPr/>
        </p:nvSpPr>
        <p:spPr>
          <a:xfrm>
            <a:off x="6263640" y="4386268"/>
            <a:ext cx="5468112" cy="2048256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8E0E9"/>
            </a:solidFill>
            <a:prstDash val="solid"/>
          </a:ln>
          <a:effectLst>
            <a:outerShdw blurRad="101600" dist="12700" dir="5400000" algn="bl" rotWithShape="0">
              <a:srgbClr val="9AA9B8">
                <a:alpha val="28000"/>
              </a:srgbClr>
            </a:outerShdw>
          </a:effectLst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973B6AE2-E22C-5310-9932-437B3B2F2129}"/>
              </a:ext>
            </a:extLst>
          </p:cNvPr>
          <p:cNvSpPr txBox="1"/>
          <p:nvPr/>
        </p:nvSpPr>
        <p:spPr>
          <a:xfrm>
            <a:off x="6495561" y="45325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46A0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APPLICATIONS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2D2023B7-8855-B843-64AA-E2CC0D7AA7EF}"/>
              </a:ext>
            </a:extLst>
          </p:cNvPr>
          <p:cNvSpPr/>
          <p:nvPr/>
        </p:nvSpPr>
        <p:spPr>
          <a:xfrm>
            <a:off x="6446520" y="4806892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EDF3F8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B30F5631-30F2-D439-ABB1-B60C02CA9A21}"/>
              </a:ext>
            </a:extLst>
          </p:cNvPr>
          <p:cNvSpPr txBox="1"/>
          <p:nvPr/>
        </p:nvSpPr>
        <p:spPr>
          <a:xfrm>
            <a:off x="6574536" y="48068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 cabin communication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BDA079F3-3EA7-1836-9F84-A71A6D902B9E}"/>
              </a:ext>
            </a:extLst>
          </p:cNvPr>
          <p:cNvSpPr/>
          <p:nvPr/>
        </p:nvSpPr>
        <p:spPr>
          <a:xfrm>
            <a:off x="9116568" y="4806892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EDF3F8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CF89EFB9-E957-057B-F3D8-C65E559A6687}"/>
              </a:ext>
            </a:extLst>
          </p:cNvPr>
          <p:cNvSpPr txBox="1"/>
          <p:nvPr/>
        </p:nvSpPr>
        <p:spPr>
          <a:xfrm>
            <a:off x="9244584" y="48068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Headsets &amp; hearing protection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5FA39586-BB97-4DFB-09BC-F88B33FFED78}"/>
              </a:ext>
            </a:extLst>
          </p:cNvPr>
          <p:cNvSpPr/>
          <p:nvPr/>
        </p:nvSpPr>
        <p:spPr>
          <a:xfrm>
            <a:off x="6446520" y="5190940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EDF3F8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E6B9515A-795E-3247-B6C8-4484F0CCACA2}"/>
              </a:ext>
            </a:extLst>
          </p:cNvPr>
          <p:cNvSpPr txBox="1"/>
          <p:nvPr/>
        </p:nvSpPr>
        <p:spPr>
          <a:xfrm>
            <a:off x="6574536" y="51909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Voice-command systems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E8A2A1C2-6BB1-8A9C-B480-7328CA417A1B}"/>
              </a:ext>
            </a:extLst>
          </p:cNvPr>
          <p:cNvSpPr/>
          <p:nvPr/>
        </p:nvSpPr>
        <p:spPr>
          <a:xfrm>
            <a:off x="9116568" y="5190940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EDF3F8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FB7D57B1-9618-E925-1FF2-A8011DB262D3}"/>
              </a:ext>
            </a:extLst>
          </p:cNvPr>
          <p:cNvSpPr txBox="1"/>
          <p:nvPr/>
        </p:nvSpPr>
        <p:spPr>
          <a:xfrm>
            <a:off x="9244584" y="51909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Industrial / vehicle comms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A81940D5-FE58-2A4F-706F-7984266269EA}"/>
              </a:ext>
            </a:extLst>
          </p:cNvPr>
          <p:cNvSpPr txBox="1"/>
          <p:nvPr/>
        </p:nvSpPr>
        <p:spPr>
          <a:xfrm>
            <a:off x="6446520" y="56298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classifier can be retrained with representative defence-noise recordings without changing the core DSP-control architecture.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D71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Lower-power embedded processing reduces dependence on large computing platforms and supports portable, battery-powered systems.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288AC8F-01BC-27C6-1AB2-5BD72DA90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747"/>
            <a:ext cx="1673352" cy="9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4">
            <a:extLst>
              <a:ext uri="{FF2B5EF4-FFF2-40B4-BE49-F238E27FC236}">
                <a16:creationId xmlns:a16="http://schemas.microsoft.com/office/drawing/2014/main" id="{5904AAE3-655F-8AB3-56C5-EC02B32B4BAC}"/>
              </a:ext>
            </a:extLst>
          </p:cNvPr>
          <p:cNvGrpSpPr/>
          <p:nvPr/>
        </p:nvGrpSpPr>
        <p:grpSpPr>
          <a:xfrm>
            <a:off x="329773" y="5763030"/>
            <a:ext cx="11401979" cy="701208"/>
            <a:chOff x="0" y="-38100"/>
            <a:chExt cx="4266827" cy="259337"/>
          </a:xfrm>
        </p:grpSpPr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591E4BCA-F39D-8171-C156-2C16426E21F1}"/>
                </a:ext>
              </a:extLst>
            </p:cNvPr>
            <p:cNvSpPr/>
            <p:nvPr/>
          </p:nvSpPr>
          <p:spPr>
            <a:xfrm>
              <a:off x="0" y="0"/>
              <a:ext cx="4266827" cy="221237"/>
            </a:xfrm>
            <a:custGeom>
              <a:avLst/>
              <a:gdLst/>
              <a:ahLst/>
              <a:cxnLst/>
              <a:rect l="l" t="t" r="r" b="b"/>
              <a:pathLst>
                <a:path w="4266827" h="221237">
                  <a:moveTo>
                    <a:pt x="24372" y="0"/>
                  </a:moveTo>
                  <a:lnTo>
                    <a:pt x="4242455" y="0"/>
                  </a:lnTo>
                  <a:cubicBezTo>
                    <a:pt x="4255915" y="0"/>
                    <a:pt x="4266827" y="10912"/>
                    <a:pt x="4266827" y="24372"/>
                  </a:cubicBezTo>
                  <a:lnTo>
                    <a:pt x="4266827" y="196866"/>
                  </a:lnTo>
                  <a:cubicBezTo>
                    <a:pt x="4266827" y="203329"/>
                    <a:pt x="4264259" y="209528"/>
                    <a:pt x="4259688" y="214099"/>
                  </a:cubicBezTo>
                  <a:cubicBezTo>
                    <a:pt x="4255118" y="218670"/>
                    <a:pt x="4248919" y="221237"/>
                    <a:pt x="4242455" y="221237"/>
                  </a:cubicBezTo>
                  <a:lnTo>
                    <a:pt x="24372" y="221237"/>
                  </a:lnTo>
                  <a:cubicBezTo>
                    <a:pt x="10912" y="221237"/>
                    <a:pt x="0" y="210326"/>
                    <a:pt x="0" y="196866"/>
                  </a:cubicBezTo>
                  <a:lnTo>
                    <a:pt x="0" y="24372"/>
                  </a:lnTo>
                  <a:cubicBezTo>
                    <a:pt x="0" y="17908"/>
                    <a:pt x="2568" y="11709"/>
                    <a:pt x="7138" y="7138"/>
                  </a:cubicBezTo>
                  <a:cubicBezTo>
                    <a:pt x="11709" y="2568"/>
                    <a:pt x="17908" y="0"/>
                    <a:pt x="24372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26">
              <a:extLst>
                <a:ext uri="{FF2B5EF4-FFF2-40B4-BE49-F238E27FC236}">
                  <a16:creationId xmlns:a16="http://schemas.microsoft.com/office/drawing/2014/main" id="{6175A933-ED3A-646F-0752-21EF24DE5F77}"/>
                </a:ext>
              </a:extLst>
            </p:cNvPr>
            <p:cNvSpPr txBox="1"/>
            <p:nvPr/>
          </p:nvSpPr>
          <p:spPr>
            <a:xfrm>
              <a:off x="0" y="-38100"/>
              <a:ext cx="4266827" cy="259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3003C-8152-4A39-DB2B-B3AEE855F4C0}"/>
              </a:ext>
            </a:extLst>
          </p:cNvPr>
          <p:cNvSpPr txBox="1"/>
          <p:nvPr/>
        </p:nvSpPr>
        <p:spPr>
          <a:xfrm>
            <a:off x="329773" y="1377766"/>
            <a:ext cx="1161031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endParaRPr lang="en-IN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J. Thiemann, N. Ito, and E. Vincent, "The Diverse Environments Multi-channel Acoustic Noise Database (DEMAND): A database of multichannel environmental noise recordings," Proc. Meetings on Acoustics, vol. 19, no. 1, 035081, 2013. — (your stationary + non-stationary noise source)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V. Panayotov, G. Chen, D. Povey, and S. 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Khudanpur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Librispeech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An ASR corpus based on public domain audio books," 2015 IEEE ICASSP, pp. 5206–5210, 2015. — (your speech class)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Simulation environment</a:t>
            </a:r>
            <a:endParaRPr lang="en-IN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R. Scheibler, E. 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Bezzam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I. 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Dokmanić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Pyroomacoustics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Python package for audio room simulation and array processing algorithms," 2018 IEEE ICASSP, pp. 351–355, 2018. — (your acoustic room simulation)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algorithms</a:t>
            </a:r>
            <a:endParaRPr lang="en-IN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Y. Ephraim and D. 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Malah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"Speech enhancement using a minimum mean-square error short-time spectral amplitude estimator," IEEE Trans. Acoustics, Speech, and Signal Processing, vol. 32, no. 6, pp. 1109–1121, 1984. — (theoretical basis for your Stage 3 Wiener/MMSE spectral post-filter)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S. 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Haykin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Adaptive Filter Theory, 5th ed., Prentice Hall, 2013. — (standard textbook reference for NLMS/VSS-NLMS, if your report cites a general adaptive-filtering source)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4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precedent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J.-M. Valin, "A hybrid DSP/deep learning approach to real-time full-band speech enhancement," 2018 IEEE 20th Int. Workshop on Multimedia Signal Processing (MMSP), pp. 1–5, 2018. — (</a:t>
            </a:r>
            <a:r>
              <a:rPr lang="en-IN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RNNoise</a:t>
            </a:r>
            <a:r>
              <a:rPr lang="en-IN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the closest published precedent to your "small NN + classical DSP" philosophy — strong to cite for the judges)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40">
            <a:extLst>
              <a:ext uri="{FF2B5EF4-FFF2-40B4-BE49-F238E27FC236}">
                <a16:creationId xmlns:a16="http://schemas.microsoft.com/office/drawing/2014/main" id="{A58BE60E-2302-306D-648C-B9F394D32EB8}"/>
              </a:ext>
            </a:extLst>
          </p:cNvPr>
          <p:cNvSpPr txBox="1"/>
          <p:nvPr/>
        </p:nvSpPr>
        <p:spPr>
          <a:xfrm>
            <a:off x="590082" y="5877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639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TOOLING &amp; LIBRARIES   </a:t>
            </a:r>
            <a:r>
              <a:rPr lang="en-US" sz="1200" dirty="0">
                <a:solidFill>
                  <a:srgbClr val="1024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NumPy · SciPy · librosa · SoundFile · Matplotlib · pystoi (STOI scoring) · PyRoomAcoustics · TensorFlow with INT8 post-training quantization · TensorFlow Lite for Microcontrollers (planned deployment) · ESP-IDF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D95865-D30A-A937-1743-FB7AABD1E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47"/>
            <a:ext cx="1673352" cy="9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7658</TotalTime>
  <Words>1323</Words>
  <Application>Microsoft Macintosh PowerPoint</Application>
  <PresentationFormat>Widescreen</PresentationFormat>
  <Paragraphs>170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TinyML-Controlled Real-Time Adaptive Noise Cancellation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Yuvraj Shankar</cp:lastModifiedBy>
  <cp:revision>151</cp:revision>
  <dcterms:created xsi:type="dcterms:W3CDTF">2013-12-12T18:46:50Z</dcterms:created>
  <dcterms:modified xsi:type="dcterms:W3CDTF">2026-09-10T16:39:19Z</dcterms:modified>
  <cp:category/>
</cp:coreProperties>
</file>